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7" r:id="rId4"/>
    <p:sldId id="260" r:id="rId5"/>
    <p:sldId id="271" r:id="rId6"/>
    <p:sldId id="261" r:id="rId7"/>
    <p:sldId id="262" r:id="rId8"/>
    <p:sldId id="272" r:id="rId16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DF1"/>
    <a:srgbClr val="F9F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AA6AD-9D99-4185-8BA4-24935467367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13574-9850-4B4E-AFB8-F395A6728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776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729E-BB4E-8799-6B2D-D1371C813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42761-1B27-6BFC-9034-04E00DD1F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63730-50D9-10B2-B362-6168AEA3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743F-E9D7-41D8-85DC-A436CF6AD6A9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DEA89-AFF0-E4C2-F321-9EE307DB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EF2C-3586-FFA9-2D46-2139EA92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95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CAE2-1567-16F3-6B84-DB030E51D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604BB-3CA8-921F-DB96-CFB252940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DDE7B-84DB-5824-6555-E888E8F42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57D3-7CF2-487C-BF4E-ACD9CEDD8594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2DBB1-F133-62E4-1264-78D1EC6A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2AB94-4AAB-162C-92E1-D1A0D71F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250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C865-BEFB-1D1F-D812-674B2B8E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50417-CA43-9CDC-78B7-8E0C568DA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7901E-963D-F87A-6ECE-9AACBC1E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5D27-4F1B-4DB8-8249-E55462DA5AD0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66F15-13F6-FF1B-18E8-41581816B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8AF60-52F3-52AF-8B89-B7855922F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16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C228-AF22-6CF5-DD47-1C4CFE556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64A07-D3F5-1093-56BA-5B0C4A401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D8D34-D614-6956-DB71-3D77B4662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D7544-71A7-BE18-617D-0108FB28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0C09-279D-49DB-8C22-0D4684524E15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9B8C0-1B9D-AB9E-937A-723D5B6D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1133A-DF6B-FF85-9F31-9A748360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79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50E3-F84D-D3A3-2968-16C7639D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2D2F7-E220-6744-B0E5-51C1D6C5A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6E1F2-A0D6-28CA-45FF-BB4A2C44E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43B374-BD47-6318-C903-39F88B24F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074E0-905A-FDE6-3261-17D878559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7E3247-A790-B274-B31E-A8F7F5A1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ED76D-7A50-4C7F-881F-546A06AEF894}" type="datetime1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CC6514-3274-4DD9-F817-4A8B4C18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F1162-215C-CBC1-E829-D86CD34F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40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61EA-D4C6-B2AA-FE11-5A7A452B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F06CF-147A-85F0-83C4-73C7553D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716C-58CD-4A34-9BFF-93086383BEF6}" type="datetime1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8643F-D9DC-DBBD-778B-CF75377B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BE99F-42B2-9E6B-ACFD-9E787B3A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95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8EB54-45D8-C046-9BBC-89FF8D243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3C38-85B6-4BAD-AF31-4C15BDEAF35B}" type="datetime1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AE145-81BD-D979-4DA2-AD70B7A0C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1B710-FDAE-27B9-F932-CDEDE9548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11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7719-5CD2-1D52-232B-71EA89188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B0F98-FB7E-86C2-0D84-52DCA076B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AD46E-32A1-42B2-A477-3C0324524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3A755-446F-4E61-8D77-8735EF6D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B13EB-A447-4214-82D7-ABF2BCB3B538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C489B-8186-D679-109E-D228EE60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28C98-2873-7380-F3BE-D8268E10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08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FE75-D934-0A39-781E-5D451F16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3462F-F755-C275-FEBA-2B95F266B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6C9F0-98A9-2E7A-8225-6B7159786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4A7AE-811F-1F1A-B46F-69734390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8F77E-1B87-44A4-9FEA-25391B0B6124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13CCB-6247-7D6E-F0CA-F57C8790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7F1AA-D6F8-D41F-B676-703BEE70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85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A545-BAD0-8F84-3918-FCEC711F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1953B-8086-E86E-E7EF-3EA6873B3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684F-814E-7C01-4300-2E0715F37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BF36-DF3C-45F3-9CCF-2AA1F36F2C6F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31A44-5360-00B0-82B2-BDA8CBE5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9F6D2-03AF-4D46-F832-34F9CEAC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08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05BC2E-F951-EA53-FA98-135EEBC06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6C983-CA5F-C28B-C50C-142A99400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90DEA-FD26-14AA-C4CD-FFBC8960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3DB5-1F94-404F-8210-2480E02B0442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9310E-ABF1-0147-9EC0-6589C7F1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A2274-E8A2-5A88-0CF7-3B3A17A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7955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0BBCE-7158-FCC4-A773-96708854B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60581-945E-3B17-39E0-5477C243B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B1034-1316-6253-3DEE-873920DB2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78DCB-CDD8-426A-83A5-8C398F77A3DE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669C5-D919-C7B0-39B5-BE013FD6E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5675E-974D-4698-4799-80E8C8884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49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VTU-Logo-250×250 – SJB INSTITUTE OF TECHNOLOGY">
            <a:extLst>
              <a:ext uri="{FF2B5EF4-FFF2-40B4-BE49-F238E27FC236}">
                <a16:creationId xmlns:a16="http://schemas.microsoft.com/office/drawing/2014/main" id="{2004FB7F-EF00-F30B-587C-C88DA4098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108" y="850640"/>
            <a:ext cx="5678487" cy="5678487"/>
          </a:xfrm>
          <a:prstGeom prst="rect">
            <a:avLst/>
          </a:prstGeom>
          <a:noFill/>
          <a:ln>
            <a:noFill/>
          </a:ln>
          <a:effectLst>
            <a:outerShdw blurRad="12700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7933A7-B9F1-53BA-2D71-765F8210EB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682BC2-CC7C-2E3A-6BAD-8EC7434BF78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9C68C8-954E-149E-7E53-D022CBC785CC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---------------------------------------</a:t>
            </a:r>
            <a:r>
              <a:rPr lang="en-IN" b="1">
                <a:solidFill>
                  <a:schemeClr val="accent1">
                    <a:lumMod val="50000"/>
                  </a:schemeClr>
                </a:solidFill>
              </a:rPr>
              <a:t>PHASE 1 PRESENTATION-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----------------------------------------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D08097BC-AB6D-CE51-DF5F-1ADB5D444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12EA54-8080-455F-091B-91210396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586615"/>
              </p:ext>
            </p:extLst>
          </p:nvPr>
        </p:nvGraphicFramePr>
        <p:xfrm>
          <a:off x="628093" y="33169"/>
          <a:ext cx="10326214" cy="8050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26214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8050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36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SAI VIDYA INSTITUTE OF TECHNOLOGY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8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An Autonomous Institution under VTU |Approved by AICTE, New Delhi </a:t>
                      </a:r>
                      <a:r>
                        <a:rPr lang="en-IN" sz="8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, Accredited by NBA, New Delhi (CSE, ECE. ISE) NAAC "A" Grade</a:t>
                      </a:r>
                      <a:endParaRPr lang="en-IN" sz="1200" b="1" kern="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45DD611-DCB9-E004-CD3D-C8A49C196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249387"/>
              </p:ext>
            </p:extLst>
          </p:nvPr>
        </p:nvGraphicFramePr>
        <p:xfrm>
          <a:off x="26536" y="1021902"/>
          <a:ext cx="12121919" cy="11565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21919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800" b="1" kern="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DEPARTMENT OF COMPUTER SCIENCE AND ENGINEERING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(ARTIFICIAL INTELLIGENCE AND MACHINE LEARNING)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BCI586: MINI PROJECT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5F3849C-5AC3-4C56-9E70-DCC699387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866609"/>
              </p:ext>
            </p:extLst>
          </p:nvPr>
        </p:nvGraphicFramePr>
        <p:xfrm>
          <a:off x="70082" y="2552390"/>
          <a:ext cx="12023500" cy="5391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23500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9154"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0B2B39"/>
                          </a:solidFill>
                          <a:latin typeface="Agency FB"/>
                        </a:rPr>
                        <a:t>GridSathi: Energy Forecasting and Smart Demand Scheduling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AA46C8B-6B63-AC65-6CC9-094946C9C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101491"/>
              </p:ext>
            </p:extLst>
          </p:nvPr>
        </p:nvGraphicFramePr>
        <p:xfrm>
          <a:off x="222482" y="4118646"/>
          <a:ext cx="5568718" cy="21939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68718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658900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0B2B39"/>
                          </a:solidFill>
                          <a:latin typeface="Agency FB"/>
                        </a:rPr>
                        <a:t>PRESENTED BY,
</a:t>
                      </a:r>
                    </a:p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  <a:latin typeface="Agency FB"/>
                        </a:rPr>
                        <a:t>BHAVANA G (1VA25CI402)</a:t>
                      </a:r>
                    </a:p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  <a:latin typeface="Agency FB"/>
                        </a:rPr>
                        <a:t>SHIVASHAKTHI S (1VA25CI407)</a:t>
                      </a:r>
                    </a:p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  <a:latin typeface="Agency FB"/>
                        </a:rPr>
                        <a:t>HEPHZIBAH A (1VA24CI035)</a:t>
                      </a:r>
                    </a:p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  <a:latin typeface="Agency FB"/>
                        </a:rPr>
                        <a:t>PRANATHI NA (1VA24CI071)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FF79B35-BED4-3FE3-46A4-B19F1D87C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93747"/>
              </p:ext>
            </p:extLst>
          </p:nvPr>
        </p:nvGraphicFramePr>
        <p:xfrm>
          <a:off x="6525311" y="4194836"/>
          <a:ext cx="5568718" cy="18083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68718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658900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0B2B39"/>
                          </a:solidFill>
                          <a:latin typeface="Agency FB"/>
                        </a:rPr>
                        <a:t>UNDER THE SUPERVISION OF,
</a:t>
                      </a:r>
                    </a:p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  <a:latin typeface="Agency FB"/>
                        </a:rPr>
                        <a:t>FACULTY GUIDE NAME</a:t>
                      </a:r>
                    </a:p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  <a:latin typeface="Agency FB"/>
                        </a:rPr>
                        <a:t>ASSISTANT PROFESSOR</a:t>
                      </a:r>
                    </a:p>
                    <a:p>
                      <a:pPr algn="l"/>
                      <a:r>
                        <a:rPr sz="1700" b="1">
                          <a:solidFill>
                            <a:srgbClr val="0F172A"/>
                          </a:solidFill>
                          <a:latin typeface="Agency FB"/>
                        </a:rPr>
                        <a:t>DEPT., OF CSE, SVIT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1D19A-DDE5-65FB-3D3B-BD0E5638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255" y="6567061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20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fld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22A6B4-86C4-76FB-13CC-03C81BC8E7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7" y="30390"/>
            <a:ext cx="793562" cy="83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47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48416-0A38-CA65-A2E3-A42F75B2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F21127-795F-9BF2-A50B-93BD5E9E25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80AC0-7723-D82B-BE59-695FE4D4B92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OUTLINE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ENGINEERING- ARTIFICIAL INTELLIGENCE &amp; MACHINE LEARNING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F5DB4B3B-6352-9FAB-BB3A-ADE43FA38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F18F90-D3E0-31B1-A2BE-E2EF261C7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893240"/>
              </p:ext>
            </p:extLst>
          </p:nvPr>
        </p:nvGraphicFramePr>
        <p:xfrm>
          <a:off x="446314" y="1021902"/>
          <a:ext cx="11266715" cy="54691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469159">
                <a:tc>
                  <a:txBody>
                    <a:bodyPr wrap="square"/>
                    <a:lstStyle/>
                    <a:p>
                      <a:pPr algn="l">
                        <a:spcAft>
                          <a:spcPts val="800"/>
                        </a:spcAft>
                      </a:pPr>
                      <a:r>
                        <a:rPr sz="2200" b="1">
                          <a:solidFill>
                            <a:srgbClr val="0B2B39"/>
                          </a:solidFill>
                          <a:latin typeface="Agency FB"/>
                        </a:rPr>
                        <a:t>1.   INTRODUCTION &amp; MOTIVATION</a:t>
                      </a:r>
                    </a:p>
                    <a:p>
                      <a:pPr algn="l">
                        <a:spcAft>
                          <a:spcPts val="800"/>
                        </a:spcAft>
                      </a:pPr>
                      <a:r>
                        <a:rPr sz="2200" b="1">
                          <a:solidFill>
                            <a:srgbClr val="0B2B39"/>
                          </a:solidFill>
                          <a:latin typeface="Agency FB"/>
                        </a:rPr>
                        <a:t>2.   LITERATURE SURVEY (FOUNDATIONAL BENCHMARKS)</a:t>
                      </a:r>
                    </a:p>
                    <a:p>
                      <a:pPr algn="l">
                        <a:spcAft>
                          <a:spcPts val="800"/>
                        </a:spcAft>
                      </a:pPr>
                      <a:r>
                        <a:rPr sz="2200" b="1">
                          <a:solidFill>
                            <a:srgbClr val="0B2B39"/>
                          </a:solidFill>
                          <a:latin typeface="Agency FB"/>
                        </a:rPr>
                        <a:t>3.   PROBLEM STATEMENT &amp; RESEARCH GAPS</a:t>
                      </a:r>
                    </a:p>
                    <a:p>
                      <a:pPr algn="l">
                        <a:spcAft>
                          <a:spcPts val="800"/>
                        </a:spcAft>
                      </a:pPr>
                      <a:r>
                        <a:rPr sz="2200" b="1">
                          <a:solidFill>
                            <a:srgbClr val="0B2B39"/>
                          </a:solidFill>
                          <a:latin typeface="Agency FB"/>
                        </a:rPr>
                        <a:t>4.   OBJECTIVES OF THE PROJECT</a:t>
                      </a:r>
                    </a:p>
                    <a:p>
                      <a:pPr algn="l">
                        <a:spcAft>
                          <a:spcPts val="800"/>
                        </a:spcAft>
                      </a:pPr>
                      <a:r>
                        <a:rPr sz="2200" b="1">
                          <a:solidFill>
                            <a:srgbClr val="0B2B39"/>
                          </a:solidFill>
                          <a:latin typeface="Agency FB"/>
                        </a:rPr>
                        <a:t>5.   METHODOLOGY &amp; SMART DEMAND SCHEDULING</a:t>
                      </a:r>
                    </a:p>
                    <a:p>
                      <a:pPr algn="l">
                        <a:spcAft>
                          <a:spcPts val="800"/>
                        </a:spcAft>
                      </a:pPr>
                      <a:r>
                        <a:rPr sz="2200" b="1">
                          <a:solidFill>
                            <a:srgbClr val="0B2B39"/>
                          </a:solidFill>
                          <a:latin typeface="Agency FB"/>
                        </a:rPr>
                        <a:t>6.   REAL-TIME WEB PLATFORM &amp; RESULTS</a:t>
                      </a:r>
                    </a:p>
                    <a:p>
                      <a:pPr algn="l">
                        <a:spcAft>
                          <a:spcPts val="800"/>
                        </a:spcAft>
                      </a:pPr>
                      <a:r>
                        <a:rPr sz="2200" b="1">
                          <a:solidFill>
                            <a:srgbClr val="0B2B39"/>
                          </a:solidFill>
                          <a:latin typeface="Agency FB"/>
                        </a:rPr>
                        <a:t>7.   REFERENCES &amp; DISCUSSION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B00BAC-360D-1F73-32F5-03F60C99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67261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89AFF-F545-639B-378D-4387F7596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7" y="30390"/>
            <a:ext cx="793562" cy="83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8AB0B-5BDD-BC21-89E1-12351601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18E548-58DE-FE3F-BEF5-7E070B0E48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2C2EB8-C078-50B6-2476-3F41314236C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24B57C-9C3E-CCA6-50BB-5D3060D9B59E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ENGINEERING- ARTIFICIAL INTELLIGENCE &amp; MACHINE LEARNING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BC6DBEBD-C38C-0C90-CFC6-4E03484C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08C6FE8-1CFB-519E-EA12-94094302AB0B}"/>
              </a:ext>
            </a:extLst>
          </p:cNvPr>
          <p:cNvGraphicFramePr>
            <a:graphicFrameLocks noGrp="1"/>
          </p:cNvGraphicFramePr>
          <p:nvPr/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Modern Grid Decarbonization: </a:t>
                      </a: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Increasing integration of distributed solar photovoltaics (PV) and battery storage transforms traditional distribution grids into active cyber-physical networks.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The Energy Forecasting Imperative: </a:t>
                      </a: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Accurately anticipating weather-dependent solar generation and aggregate consumer load curves is essential for economic dispatch and avoiding emergency generation ramp-ups.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The EV Charging Surge &amp; Concurrency: </a:t>
                      </a: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Coincident fast charging of electric vehicle (EV) fleets creates multi-megawatt demand spikes on localized distribution substations.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Solar Duck Curve Intermittency: </a:t>
                      </a: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Peak residential EV charging heavily coincides with steep late-afternoon solar generation ramp-downs, causing severe transformer overload risks.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Peak-to-Average Ratio (PAR) Risk: </a:t>
                      </a: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Uncoordinated charging spikes the Peak-to-Average Ratio up to 3.82, accelerating transformer thermal degradation and causing severe feeder voltage sags (&lt;0.90 p.u.).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Project Vision — GridSathi: </a:t>
                      </a: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An integrated Cyber-Physical Energy Management Platform combining high-accuracy energy forecasting, 2×2 factorial ANOVA screening, Multi-Objective Reinforcement Learning (MO-DQN) smart demand scheduling, and an interactive real-time web cockpit.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F57C1C-5D1C-5243-490A-E5752F03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146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754F9-DC3E-38E5-F984-0AB4B0417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7" y="30390"/>
            <a:ext cx="793562" cy="83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1532-DECA-7A7B-FD2D-7EB1FCBE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F8A2B1-8814-7D72-C376-F3C327D619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33845-FF1B-AE41-51EF-4AB7EC3DBBA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LITERATURE SURVEY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73E7B-8F62-A6D1-B2B0-99927A662680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ENGINEERING- ARTIFICIAL INTELLIGENCE &amp; MACHINE LEARNING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B77E9652-E1DB-98EF-40F6-54BC8AB10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E59FF7-BB7A-AD96-F2EC-56698AB66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464346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IN" sz="2000" b="0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sym typeface="Wingdings" panose="05000000000000000000" pitchFamily="2" charset="2"/>
                        </a:rPr>
                        <a:t>PAPER 1</a:t>
                      </a:r>
                    </a:p>
                    <a:p>
                      <a:pPr marL="0"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2000" b="0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41AEE-6810-60B2-F942-BB55638D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146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E41EDC-5B36-323B-C16C-B21727755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889952"/>
              </p:ext>
            </p:extLst>
          </p:nvPr>
        </p:nvGraphicFramePr>
        <p:xfrm>
          <a:off x="478970" y="1653730"/>
          <a:ext cx="10552824" cy="422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753">
                  <a:extLst>
                    <a:ext uri="{9D8B030D-6E8A-4147-A177-3AD203B41FA5}">
                      <a16:colId xmlns:a16="http://schemas.microsoft.com/office/drawing/2014/main" val="3886358793"/>
                    </a:ext>
                  </a:extLst>
                </a:gridCol>
                <a:gridCol w="8495071">
                  <a:extLst>
                    <a:ext uri="{9D8B030D-6E8A-4147-A177-3AD203B41FA5}">
                      <a16:colId xmlns:a16="http://schemas.microsoft.com/office/drawing/2014/main" val="1822039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Deep Reinforcement Learning for Electric Vehicle Charging Coordination in Distribution Networks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158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S. Zhang, Y. Xiang, and J. Liu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201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Conference/</a:t>
                      </a:r>
                    </a:p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Journal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IEEE Transactions on Smart Grid (Vol. 12, Issue 4, pp. 3125–3135)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37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Publication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7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Methods/</a:t>
                      </a:r>
                    </a:p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Techniques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Deep Deterministic Policy Gradient (DDPG) reinforcement learning for continuous EV setpoint allocation.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4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Successfully shaved baseline peak grid demand by 24.3% across residential distribution feeders.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128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Research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Fails to incorporate battery degradation and does not enforce downstream radial distribution feeder voltage stability constraints.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22473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369B374-6BCF-711A-31B0-DCCE6AA2A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7" y="30390"/>
            <a:ext cx="793562" cy="83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90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2ED2-6DF6-C9AB-5D47-9A420EE9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C34667-E8B5-FBA7-5F83-6229B9BD8B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83DF53-DC54-2400-740D-1417A871348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LITERATURE SURVEY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BB3444-F91D-CB6E-B277-A05739AE3F1D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ENGINEERING- ARTIFICIAL INTELLIGENCE &amp; MACHINE LEARNING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CEC4A145-9072-A183-C0A3-00D431365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2E4C91D-4F08-2115-3A7E-42AC80781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734193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IN" sz="2000" b="0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sym typeface="Wingdings" panose="05000000000000000000" pitchFamily="2" charset="2"/>
                        </a:rPr>
                        <a:t>PAPER 2</a:t>
                      </a:r>
                    </a:p>
                    <a:p>
                      <a:pPr marL="0"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2000" b="0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94F5CD-35DA-C892-17F8-758D64E8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146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DB1F05-A375-CEE5-B919-A0101B217A1B}"/>
              </a:ext>
            </a:extLst>
          </p:cNvPr>
          <p:cNvGraphicFramePr>
            <a:graphicFrameLocks noGrp="1"/>
          </p:cNvGraphicFramePr>
          <p:nvPr/>
        </p:nvGraphicFramePr>
        <p:xfrm>
          <a:off x="478970" y="1653730"/>
          <a:ext cx="10552824" cy="422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753">
                  <a:extLst>
                    <a:ext uri="{9D8B030D-6E8A-4147-A177-3AD203B41FA5}">
                      <a16:colId xmlns:a16="http://schemas.microsoft.com/office/drawing/2014/main" val="3886358793"/>
                    </a:ext>
                  </a:extLst>
                </a:gridCol>
                <a:gridCol w="8495071">
                  <a:extLst>
                    <a:ext uri="{9D8B030D-6E8A-4147-A177-3AD203B41FA5}">
                      <a16:colId xmlns:a16="http://schemas.microsoft.com/office/drawing/2014/main" val="1822039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Multi-Agent Reinforcement Learning for Decentralized Energy Management in Islanded Microgrids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158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H. Li and C. Tan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201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Conference/</a:t>
                      </a:r>
                    </a:p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Journal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IEEE Transactions on Industrial Informatics (Vol. 18, Issue 8, pp. 5312–5322)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37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Publication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37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Methods/</a:t>
                      </a:r>
                    </a:p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Techniques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Multi-Agent Deep Q-Network (MADQN) with peer-to-peer decentralized negotiation among prosumer nodes.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4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Achieved decentralized power balancing across microgrid island boundaries without a single point of failure.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128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z="1300" b="1">
                          <a:solidFill>
                            <a:srgbClr val="0B2B39"/>
                          </a:solidFill>
                          <a:latin typeface="Cambria"/>
                        </a:rPr>
                        <a:t>Research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mbria"/>
                        </a:rPr>
                        <a:t>Control loop latency exceeds 500ms (unsuitable for sub-second SCADA protection) and completely lacks Explainable AI (XAI) for human operator verification.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22473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6A05EAF-C402-D594-6C60-B78CB7C277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7" y="30390"/>
            <a:ext cx="793562" cy="83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97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68D5-3403-686C-6CDF-BB1FD379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A89F48-553A-6825-0415-6440D580BE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E5A0CF-AF65-16EB-1201-D9FDA3B9210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PROBLEM STATEMENT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0F205-5EFF-BB90-2225-6E0D83F7257F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ENGINEERING- ARTIFICIAL INTELLIGENCE &amp; MACHINE LEARNING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8198715B-9ED0-9D08-BA4B-F326720A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1BD376-E5B5-CF79-FD71-A2F60FD26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142032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Operational Problem: </a:t>
                      </a: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Discrepancy between intermittent solar generation and high-density residential EV charging clusters creates localized demand surges, driving Peak-to-Average Ratio (PAR) to 3.82 and overloading distribution transformers.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Mathematical Formulation: </a:t>
                      </a: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min  ∑ [ w1 · C_grid(t) + w2 · D_batt(t) + w3 · ΔV_feeder(t) ]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Boundary Constraints: </a:t>
                      </a: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
   1. Feeder Voltage Stability: 0.95 p.u. ≤ V_i(t) ≤ 1.05 p.u.  ∀i ∈ {1..33}
   2. Substation Thermal Capacity: P_load(t) ≤ P_rated  (Zero transformer overload)
   3. EV Driver Satisfaction: SoC_k(t_dep) ≥ 0.90 · SoC_target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Major Research Gaps Addressed: </a:t>
                      </a: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
   • Gap 1: Existing frameworks ignore 2×2 factorial interaction between solar intermittency and EV load concurrency.
   • Gap 2: Commercial controllers optimize tariff only, causing severe battery degradation and end-bus voltage sag.
   • Gap 3: Complete lack of Explainable AI (XAI) creates a trust barrier for high-voltage substation dispatchers.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ACB4A7-D49A-0FD4-18E3-FF257313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00377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6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6</a:t>
            </a:fld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65E46-CB58-B0E6-6CDD-9B77C53B3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7" y="30390"/>
            <a:ext cx="793562" cy="83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36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3B0FD-FCDD-CBA7-927B-41194E61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9844F5-1C6D-4D7A-9C97-279393E7DC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434E0-E957-2F87-85B3-FF9895F7134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E40BF2-F532-1317-FC78-4029A1A3933A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ENGINEERING- ARTIFICIAL INTELLIGENCE &amp; MACHINE LEARNING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490A94DC-E3CC-30E1-1E1E-D01C911E8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EC948D-D156-4E00-CD73-2E34CB685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821717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Primary Objective: </a:t>
                      </a:r>
                      <a:r>
                        <a:rPr sz="1350">
                          <a:solidFill>
                            <a:srgbClr val="0F172A"/>
                          </a:solidFill>
                          <a:latin typeface="Cambria"/>
                        </a:rPr>
                        <a:t>To design, simulate, and deploy 'GridSathi: Energy Forecasting and Smart Demand Scheduling' — a comprehensive platform that guarantees distribution grid stability, shaves PAR, protects battery life, and empowers operators with explainable AI.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Objective 1 (Telemetry &amp; Data Acquisition): </a:t>
                      </a:r>
                      <a:r>
                        <a:rPr sz="1350">
                          <a:solidFill>
                            <a:srgbClr val="0F172A"/>
                          </a:solidFill>
                          <a:latin typeface="Cambria"/>
                        </a:rPr>
                        <a:t>Simulate real-time voltage, frequency, and active/reactive power acquisition with &lt;50ms telemetry update latency across active distribution feeders.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Objective 2 (Solar &amp; Demand Forecasting): </a:t>
                      </a:r>
                      <a:r>
                        <a:rPr sz="1350">
                          <a:solidFill>
                            <a:srgbClr val="0F172A"/>
                          </a:solidFill>
                          <a:latin typeface="Cambria"/>
                        </a:rPr>
                        <a:t>Develop high-precision solar energy generation and baseline aggregate load forecasting models to anticipate critical peak hours.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Objective 3 (2×2 Factorial Interaction ANOVA): </a:t>
                      </a:r>
                      <a:r>
                        <a:rPr sz="1350">
                          <a:solidFill>
                            <a:srgbClr val="0F172A"/>
                          </a:solidFill>
                          <a:latin typeface="Cambria"/>
                        </a:rPr>
                        <a:t>Execute 2×2 factorial design of experiments to statistically quantify coupling between solar intermittency and EV load concurrency (F=372.24, p&lt;0.001).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Objective 4 (Smart Demand Scheduling via MO-DQN): </a:t>
                      </a:r>
                      <a:r>
                        <a:rPr sz="1350">
                          <a:solidFill>
                            <a:srgbClr val="0F172A"/>
                          </a:solidFill>
                          <a:latin typeface="Cambria"/>
                        </a:rPr>
                        <a:t>Formulate and train a Multi-Objective Deep Q-Network (MO-DQN) balancing tariff costs, battery longevity, and peak demand shaving (&gt;65%).</a:t>
                      </a:r>
                    </a:p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50" b="1">
                          <a:solidFill>
                            <a:srgbClr val="0B2B39"/>
                          </a:solidFill>
                          <a:latin typeface="Cambria"/>
                        </a:rPr>
                        <a:t>• Objective 5 (Interactive Web Platform &amp; Operator XAI): </a:t>
                      </a:r>
                      <a:r>
                        <a:rPr sz="1350">
                          <a:solidFill>
                            <a:srgbClr val="0F172A"/>
                          </a:solidFill>
                          <a:latin typeface="Cambria"/>
                        </a:rPr>
                        <a:t>Deploy a responsive glassmorphic web dashboard with live dials, demand scheduler, and SHAP-based natural-language counterfactual explanations.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4FB134-053B-7B03-CB39-35E0C59D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69754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7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E8118B-1F71-FBB7-8FE2-4D3C076E3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7" y="30390"/>
            <a:ext cx="793562" cy="83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30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5B36C-86D4-7776-76D5-23BAD7E1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87B956-CD9A-E522-E479-0BA6BFEBBD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A6B35-95C6-A69A-0CD9-D62B9816A5D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REFERENCES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653675-63CE-964A-BA2E-9A263350329E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ENGINEERING- ARTIFICIAL INTELLIGENCE &amp; MACHINE LEARNING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82311498-F5D0-3A41-1FDA-72AE57333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24DEE9E-F6E5-C52B-D0CD-5BC935F79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783504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 wrap="square"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[1]  S. Zhang, Y. Xiang, and J. Liu, "Deep Reinforcement Learning for Electric Vehicle Charging Coordination in Distribution Networks," IEEE Transactions on Smart Grid, vol. 12, no. 4, pp. 3125–3135, Jul. 2021.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[2]  H. Li and C. Tan, "Multi-Agent Reinforcement Learning for Decentralized Energy Management in Islanded Microgrids," IEEE Transactions on Industrial Informatics, vol. 18, no. 8, pp. 5312–5322, Aug. 2022.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[3]  M. AL-Sadi, H. Al-Masri, and S. Al-Kharabsheh, "Factorial Experimental Design for Reliability and Voltage Stability in Modern Photovoltaic Microgrids," Renewable Energy, vol. 205, pp. 410–422, Mar. 2023.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[4]  T. Morstyn, A. Teymouri, and M. D. McCulloch, "Bilateral Contract Networks for Peer-to-Peer Energy Trading in Radial Distribution Networks," IEEE Transactions on Control Systems Technology, vol. 28, no. 5, pp. 1950–1961, Sep. 2020.</a:t>
                      </a:r>
                    </a:p>
                    <a:p>
                      <a:pPr algn="l">
                        <a:spcAft>
                          <a:spcPts val="1200"/>
                        </a:spcAft>
                      </a:pPr>
                      <a:r>
                        <a:rPr sz="1400">
                          <a:solidFill>
                            <a:srgbClr val="0F172A"/>
                          </a:solidFill>
                          <a:latin typeface="Cambria"/>
                        </a:rPr>
                        <a:t>[5]  A. Rigas, S. Ramchurn, and N. Bassiliades, "Managing Electric Vehicles in the Smart Grid Using Artificial Intelligence: A Survey," IEEE Transactions on Intelligent Transportation Systems, vol. 16, no. 4, pp. 1619–1635, Aug. 2015.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B408FC-ACE5-58E1-E8A6-C3742083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146"/>
            <a:ext cx="2743200" cy="365125"/>
          </a:xfrm>
        </p:spPr>
        <p:txBody>
          <a:bodyPr/>
          <a:lstStyle/>
          <a:p>
            <a:r>
              <a:rPr sz="1400">
                <a:latin typeface="Agency FB"/>
              </a:rPr>
              <a:t>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136484-E418-54A4-851D-726939019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7" y="30390"/>
            <a:ext cx="793562" cy="83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05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CA65-3D33-676A-6105-4E87C2742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3E40E0-9A42-284D-A6EF-30C103229F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CFE55A-4A66-634A-1F05-8C5A87FB3AE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B19AB6-CDA3-58AD-6E3D-F06A4B0C0E96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ENGINEERING- ARTIFICIAL INTELLIGENCE &amp; MACHINE LEARNING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324C5FAB-91A4-1B73-2DB3-69A828C6B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C36F27-2B2E-5DE0-AA8D-D3608B73C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823755"/>
              </p:ext>
            </p:extLst>
          </p:nvPr>
        </p:nvGraphicFramePr>
        <p:xfrm>
          <a:off x="907844" y="74842"/>
          <a:ext cx="10326214" cy="7642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26214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698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36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SAI VIDYA INSTITUTE OF TECHNOLOGY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8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Approved by AICTE, New Delhi, Affiliated to VTU, Recognized by Govt. of Karnataka, Accredited by NBA, New Delhi (CSE, ECE. ISE) NAAC "A" Grade</a:t>
                      </a:r>
                      <a:endParaRPr lang="en-IN" sz="1200" b="1" kern="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46EA4D5-C0C8-80AD-343A-DA365B7C8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582"/>
              </p:ext>
            </p:extLst>
          </p:nvPr>
        </p:nvGraphicFramePr>
        <p:xfrm>
          <a:off x="70082" y="1545771"/>
          <a:ext cx="12023500" cy="43760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23500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437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15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THANK YOU</a:t>
                      </a:r>
                      <a:endParaRPr lang="en-IN" sz="8800" b="1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D2FCA6-7140-8660-5DFA-8364D015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00595"/>
            <a:ext cx="2743200" cy="257405"/>
          </a:xfrm>
        </p:spPr>
        <p:txBody>
          <a:bodyPr/>
          <a:lstStyle/>
          <a:p>
            <a:r>
              <a:rPr sz="1400">
                <a:latin typeface="Agency FB"/>
              </a:rPr>
              <a:t>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EB3FC-1827-810E-DBA5-9B95584AE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7" y="30390"/>
            <a:ext cx="793562" cy="83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74484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>
            <a:extLst>
              <a:ext uri="{FF2B5EF4-FFF2-40B4-BE49-F238E27FC236}">
                <a16:creationId xmlns:a16="http://schemas.microsoft.com/office/drawing/2014/main" id="{E818E548-58DE-FE3F-BEF5-7E070B0E48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2C2EB8-C078-50B6-2476-3F41314236C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Agency FB"/>
              </a:rPr>
              <a:t>METHODOLOGY &amp; REAL-TIME WEB PLATFORM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24B57C-9C3E-CCA6-50BB-5D3060D9B59E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ENGINEERING- ARTIFICIAL INTELLIGENCE &amp; MACHINE LEARNING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F57C1C-5D1C-5243-490A-E5752F03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146"/>
            <a:ext cx="2743200" cy="365125"/>
          </a:xfrm>
        </p:spPr>
        <p:txBody>
          <a:bodyPr/>
          <a:lstStyle/>
          <a:p>
            <a:r>
              <a:rPr sz="1400">
                <a:latin typeface="Agency FB"/>
              </a:rPr>
              <a:t>8</a:t>
            </a:r>
          </a:p>
        </p:txBody>
      </p:sp>
      <p:pic>
        <p:nvPicPr>
          <p:cNvPr id="8" name="Picture 7" descr="web_forecast_vis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00" y="1150000"/>
            <a:ext cx="5350000" cy="3650000"/>
          </a:xfrm>
          <a:prstGeom prst="rect">
            <a:avLst/>
          </a:prstGeom>
        </p:spPr>
      </p:pic>
      <p:pic>
        <p:nvPicPr>
          <p:cNvPr id="9" name="Picture 8" descr="web_scheduling_visi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000" y="1150000"/>
            <a:ext cx="5350000" cy="36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0000" y="4950000"/>
            <a:ext cx="11090000" cy="14500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50" b="1">
                <a:solidFill>
                  <a:srgbClr val="0B2B39"/>
                </a:solidFill>
                <a:latin typeface="Agency FB"/>
              </a:rPr>
              <a:t>Validated Performance Benchmarks &amp; Expected Outcomes:
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B2B39"/>
                </a:solidFill>
                <a:latin typeface="Cambria"/>
              </a:rPr>
              <a:t>• Peak-to-Average Ratio (PAR): </a:t>
            </a:r>
            <a:r>
              <a:rPr sz="1200">
                <a:solidFill>
                  <a:srgbClr val="0F172A"/>
                </a:solidFill>
                <a:latin typeface="Cambria"/>
              </a:rPr>
              <a:t>Reduced from 3.82 down to 1.15 (-69.8% peak demand shaved via MO-DQN).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B2B39"/>
                </a:solidFill>
                <a:latin typeface="Cambria"/>
              </a:rPr>
              <a:t>• Feeder Voltage Stability: </a:t>
            </a:r>
            <a:r>
              <a:rPr sz="1200">
                <a:solidFill>
                  <a:srgbClr val="0F172A"/>
                </a:solidFill>
                <a:latin typeface="Cambria"/>
              </a:rPr>
              <a:t>Maintained max voltage drop ≤ 2.8% on IEEE 33-Bus radial feeder under 1,100 EVs.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0B2B39"/>
                </a:solidFill>
                <a:latin typeface="Cambria"/>
              </a:rPr>
              <a:t>• Telemetry &amp; Uptime: </a:t>
            </a:r>
            <a:r>
              <a:rPr sz="1200">
                <a:solidFill>
                  <a:srgbClr val="0F172A"/>
                </a:solidFill>
                <a:latin typeface="Cambria"/>
              </a:rPr>
              <a:t>Sub-second 42ms telemetry refresh rate with 99.4% autonomous grid stability.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5671</TotalTime>
  <Words>340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ADLaM Display</vt:lpstr>
      <vt:lpstr>Agency FB</vt:lpstr>
      <vt:lpstr>Aptos</vt:lpstr>
      <vt:lpstr>Aptos Display</vt:lpstr>
      <vt:lpstr>Arial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S M</dc:creator>
  <cp:lastModifiedBy>shilpa patil</cp:lastModifiedBy>
  <cp:revision>16</cp:revision>
  <dcterms:created xsi:type="dcterms:W3CDTF">2025-08-06T03:58:51Z</dcterms:created>
  <dcterms:modified xsi:type="dcterms:W3CDTF">2026-10-13T03:43:06Z</dcterms:modified>
</cp:coreProperties>
</file>